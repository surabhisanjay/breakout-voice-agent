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86a0c7ca3c3487c" /><Relationship Type="http://schemas.openxmlformats.org/officeDocument/2006/relationships/extended-properties" Target="/docProps/app.xml" Id="R7ba6d97a570e4db2" /><Relationship Type="http://schemas.openxmlformats.org/officeDocument/2006/relationships/officeDocument" Target="/ppt/presentation.xml" Id="R31e850443f4f428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4254b6023fc4acc"/>
  </p:sldMasterIdLst>
  <p:notesMasterIdLst>
    <p:notesMasterId xmlns:r="http://schemas.openxmlformats.org/officeDocument/2006/relationships" r:id="R249c51861b61473c"/>
  </p:notesMasterIdLst>
  <p:sldIdLst>
    <p:sldId xmlns:r="http://schemas.openxmlformats.org/officeDocument/2006/relationships" id="256" r:id="R69ff5858911a48cc"/>
    <p:sldId xmlns:r="http://schemas.openxmlformats.org/officeDocument/2006/relationships" id="257" r:id="R9dfbccdfeb8c48bf"/>
    <p:sldId xmlns:r="http://schemas.openxmlformats.org/officeDocument/2006/relationships" id="258" r:id="R9dbf01e4a3f7440b"/>
    <p:sldId xmlns:r="http://schemas.openxmlformats.org/officeDocument/2006/relationships" id="259" r:id="R1edd8f08f3e74a98"/>
    <p:sldId xmlns:r="http://schemas.openxmlformats.org/officeDocument/2006/relationships" id="260" r:id="Rc780d3c4e80c4d13"/>
    <p:sldId xmlns:r="http://schemas.openxmlformats.org/officeDocument/2006/relationships" id="261" r:id="Rcd6253e9667b4980"/>
    <p:sldId xmlns:r="http://schemas.openxmlformats.org/officeDocument/2006/relationships" id="262" r:id="Rbab2635cc072457e"/>
    <p:sldId xmlns:r="http://schemas.openxmlformats.org/officeDocument/2006/relationships" id="263" r:id="Rfac9d2128d5144a4"/>
    <p:sldId xmlns:r="http://schemas.openxmlformats.org/officeDocument/2006/relationships" id="264" r:id="Rc51679a8bc0a408d"/>
    <p:sldId xmlns:r="http://schemas.openxmlformats.org/officeDocument/2006/relationships" id="265" r:id="R193831ebb9e6411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5802b02d65d4bda" /><Relationship Type="http://schemas.openxmlformats.org/officeDocument/2006/relationships/slideMaster" Target="/ppt/slideMasters/slideMaster1.xml" Id="R74254b6023fc4acc" /><Relationship Type="http://schemas.openxmlformats.org/officeDocument/2006/relationships/notesMaster" Target="/ppt/notesMasters/notesMaster1.xml" Id="R249c51861b61473c" /><Relationship Type="http://schemas.openxmlformats.org/officeDocument/2006/relationships/presProps" Target="/ppt/presProps.xml" Id="R96c219da45be4f18" /><Relationship Type="http://schemas.openxmlformats.org/officeDocument/2006/relationships/tableStyles" Target="/ppt/tableStyles.xml" Id="R1247129d78df4dfb" /><Relationship Type="http://schemas.openxmlformats.org/officeDocument/2006/relationships/slide" Target="/ppt/slides/slide1.xml" Id="R69ff5858911a48cc" /><Relationship Type="http://schemas.openxmlformats.org/officeDocument/2006/relationships/slide" Target="/ppt/slides/slide2.xml" Id="R9dfbccdfeb8c48bf" /><Relationship Type="http://schemas.openxmlformats.org/officeDocument/2006/relationships/slide" Target="/ppt/slides/slide3.xml" Id="R9dbf01e4a3f7440b" /><Relationship Type="http://schemas.openxmlformats.org/officeDocument/2006/relationships/slide" Target="/ppt/slides/slide4.xml" Id="R1edd8f08f3e74a98" /><Relationship Type="http://schemas.openxmlformats.org/officeDocument/2006/relationships/slide" Target="/ppt/slides/slide5.xml" Id="Rc780d3c4e80c4d13" /><Relationship Type="http://schemas.openxmlformats.org/officeDocument/2006/relationships/slide" Target="/ppt/slides/slide6.xml" Id="Rcd6253e9667b4980" /><Relationship Type="http://schemas.openxmlformats.org/officeDocument/2006/relationships/slide" Target="/ppt/slides/slide7.xml" Id="Rbab2635cc072457e" /><Relationship Type="http://schemas.openxmlformats.org/officeDocument/2006/relationships/slide" Target="/ppt/slides/slide8.xml" Id="Rfac9d2128d5144a4" /><Relationship Type="http://schemas.openxmlformats.org/officeDocument/2006/relationships/slide" Target="/ppt/slides/slide9.xml" Id="Rc51679a8bc0a408d" /><Relationship Type="http://schemas.openxmlformats.org/officeDocument/2006/relationships/slide" Target="/ppt/slides/slide10.xml" Id="R193831ebb9e6411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3bb004d0b6549d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de77e43afb94e79" /><Relationship Type="http://schemas.openxmlformats.org/officeDocument/2006/relationships/notesMaster" Target="/ppt/notesMasters/notesMaster1.xml" Id="R53449f60bd4e418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312f1bf2ab0470a" /><Relationship Type="http://schemas.openxmlformats.org/officeDocument/2006/relationships/notesMaster" Target="/ppt/notesMasters/notesMaster1.xml" Id="R3eb5c481c9d54c2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730e699615f4a58" /><Relationship Type="http://schemas.openxmlformats.org/officeDocument/2006/relationships/notesMaster" Target="/ppt/notesMasters/notesMaster1.xml" Id="R86c767389ff8477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51243748bcc4ac3" /><Relationship Type="http://schemas.openxmlformats.org/officeDocument/2006/relationships/notesMaster" Target="/ppt/notesMasters/notesMaster1.xml" Id="R17e741e5d429432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37a5310ace84b0d" /><Relationship Type="http://schemas.openxmlformats.org/officeDocument/2006/relationships/notesMaster" Target="/ppt/notesMasters/notesMaster1.xml" Id="R5b3f7cf20f2a431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ce4df80fd194d86" /><Relationship Type="http://schemas.openxmlformats.org/officeDocument/2006/relationships/notesMaster" Target="/ppt/notesMasters/notesMaster1.xml" Id="R0108da2ff51f4bb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383b778f4064704" /><Relationship Type="http://schemas.openxmlformats.org/officeDocument/2006/relationships/notesMaster" Target="/ppt/notesMasters/notesMaster1.xml" Id="R7e1aef74e8c0497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88f451d605443f9" /><Relationship Type="http://schemas.openxmlformats.org/officeDocument/2006/relationships/notesMaster" Target="/ppt/notesMasters/notesMaster1.xml" Id="Rca5e9748a61e46e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86ddc2e261445cd" /><Relationship Type="http://schemas.openxmlformats.org/officeDocument/2006/relationships/notesMaster" Target="/ppt/notesMasters/notesMaster1.xml" Id="R0ad5fbeafc4449a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861f143dbb04de5" /><Relationship Type="http://schemas.openxmlformats.org/officeDocument/2006/relationships/notesMaster" Target="/ppt/notesMasters/notesMaster1.xml" Id="Rbbd08fd4f308484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by framing this as an implementation alignment meeting.</a:t>
            </a:r>
          </a:p>
          <a:p xmlns:a="http://schemas.openxmlformats.org/drawingml/2006/main">
            <a:r>
              <a:t>Emphasize that the team has working AI/CRM/Vapi pieces, but production reliability depends on final integration contracts.</a:t>
            </a:r>
          </a:p>
          <a:p xmlns:a="http://schemas.openxmlformats.org/drawingml/2006/main">
            <a:r>
              <a:t>State that the most important outcome is named owners and unblockers, not a general status update.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 the PRD objectives to implementation: instant answering, qualification, follow-ups, and human handoff.</a:t>
            </a:r>
          </a:p>
          <a:p xmlns:a="http://schemas.openxmlformats.org/drawingml/2006/main">
            <a:r>
              <a:t>Call out the booking rule early because it affects backend state, payment webhooks, CRM labels, and agent language.</a:t>
            </a:r>
          </a:p>
          <a:p xmlns:a="http://schemas.openxmlformats.org/drawingml/2006/main">
            <a:r>
              <a:t>The MVP is a test environment for Breakout, but the architecture should generalize to Closira SMB deployments.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completed list reflects current implementation, not aspirational scope.</a:t>
            </a:r>
          </a:p>
          <a:p xmlns:a="http://schemas.openxmlformats.org/drawingml/2006/main">
            <a:r>
              <a:t>The in-progress items are where we need team alignment: payment callbacks, TeleCMI events, CRM schema, and credentials.</a:t>
            </a:r>
          </a:p>
          <a:p xmlns:a="http://schemas.openxmlformats.org/drawingml/2006/main">
            <a:r>
              <a:t>Avoid overclaiming payment: payment scaffolding exists, but the production state machine is not finished.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right: phone call enters through TeleCMI, Vapi manages the voice interface, FastAPI receives tool calls.</a:t>
            </a:r>
          </a:p>
          <a:p xmlns:a="http://schemas.openxmlformats.org/drawingml/2006/main">
            <a:r>
              <a:t>The inbound agent owns conversation behavior; external systems own system-of-record facts.</a:t>
            </a:r>
          </a:p>
          <a:p xmlns:a="http://schemas.openxmlformats.org/drawingml/2006/main">
            <a:r>
              <a:t>Payment is intentionally shown as a separate external system because payment success drives booking confirmation.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demo to show FAQ handling without breaking the booking flow.</a:t>
            </a:r>
          </a:p>
          <a:p xmlns:a="http://schemas.openxmlformats.org/drawingml/2006/main">
            <a:r>
              <a:t>If the customer was mid-booking, the agent should answer briefly and then return to the pending detail.</a:t>
            </a:r>
          </a:p>
          <a:p xmlns:a="http://schemas.openxmlformats.org/drawingml/2006/main">
            <a:r>
              <a:t>CRM impact: the turn is logged and available for summary and dashboard metrics.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key production alignment slide.</a:t>
            </a:r>
          </a:p>
          <a:p xmlns:a="http://schemas.openxmlformats.org/drawingml/2006/main">
            <a:r>
              <a:t>Booking API can create instant cart/hold and later convert to booking. Payment request support is optional in the API contract.</a:t>
            </a:r>
          </a:p>
          <a:p xmlns:a="http://schemas.openxmlformats.org/drawingml/2006/main">
            <a:r>
              <a:t>For Closira, the safe business interpretation is: confirmed only after payment success callback, then send confirmation.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Escalation is a designed state, not a failure.</a:t>
            </a:r>
          </a:p>
          <a:p xmlns:a="http://schemas.openxmlformats.org/drawingml/2006/main">
            <a:r>
              <a:t>The AI should stop collecting fields once the customer asks for a human.</a:t>
            </a:r>
          </a:p>
          <a:p xmlns:a="http://schemas.openxmlformats.org/drawingml/2006/main">
            <a:r>
              <a:t>We need TeleCMI/Vapi mechanics for live transfer and CRM mechanics for showing the summary to the human agent.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Booking has two visible documentation shapes: the newer MCP-style API contract and older REST overview. We need the final source of truth.</a:t>
            </a:r>
          </a:p>
          <a:p xmlns:a="http://schemas.openxmlformats.org/drawingml/2006/main">
            <a:r>
              <a:t>Payment is the most important dependency because it controls the booking-confirmed transition.</a:t>
            </a:r>
          </a:p>
          <a:p xmlns:a="http://schemas.openxmlformats.org/drawingml/2006/main">
            <a:r>
              <a:t>CRM and messaging need precise field and provider decisions before staging tests can be meaningful.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questions are deliberately limited to gaps not fully answered in the PRD/API docs.</a:t>
            </a:r>
          </a:p>
          <a:p xmlns:a="http://schemas.openxmlformats.org/drawingml/2006/main">
            <a:r>
              <a:t>For each question, ask the owner to provide a specific artifact: schema, endpoint, event sample, credential, or owner name.</a:t>
            </a:r>
          </a:p>
          <a:p xmlns:a="http://schemas.openxmlformats.org/drawingml/2006/main">
            <a:r>
              <a:t>If time is short, prioritize questions 1 through 5 because they block the end-to-end booking 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asking for concrete commitments, not general agreement.</a:t>
            </a:r>
          </a:p>
          <a:p xmlns:a="http://schemas.openxmlformats.org/drawingml/2006/main">
            <a:r>
              <a:t>The minimum exit criteria are final API contracts, payment webhook schema, TeleCMI event specs, CRM mapping, messaging provider, credentials, and owners.</a:t>
            </a:r>
          </a:p>
          <a:p xmlns:a="http://schemas.openxmlformats.org/drawingml/2006/main">
            <a:r>
              <a:t>Propose the next demo as an end-to-end payment-success booking confirmation 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98a1ededbc488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92679073246483f" /><Relationship Type="http://schemas.openxmlformats.org/officeDocument/2006/relationships/slideLayout" Target="/ppt/slideLayouts/slideLayout1.xml" Id="R2f424ea67b73405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f424ea67b73405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cfea13129d420c" /><Relationship Type="http://schemas.openxmlformats.org/officeDocument/2006/relationships/notesSlide" Target="/ppt/notesSlides/notesSlide1.xml" Id="R21a46bfac51f4fc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5edb2eb8e74ddf" /><Relationship Type="http://schemas.openxmlformats.org/officeDocument/2006/relationships/notesSlide" Target="/ppt/notesSlides/notesSlide2.xml" Id="Rb3d0f038c76d49d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04cf18061f4ecf" /><Relationship Type="http://schemas.openxmlformats.org/officeDocument/2006/relationships/notesSlide" Target="/ppt/notesSlides/notesSlide3.xml" Id="Rd0139d21685346f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bb0d9ff14241a3" /><Relationship Type="http://schemas.openxmlformats.org/officeDocument/2006/relationships/notesSlide" Target="/ppt/notesSlides/notesSlide4.xml" Id="R9aa1934c0e04430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0cf4262938433f" /><Relationship Type="http://schemas.openxmlformats.org/officeDocument/2006/relationships/notesSlide" Target="/ppt/notesSlides/notesSlide5.xml" Id="R643d290b9ce048c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5ed3159577430c" /><Relationship Type="http://schemas.openxmlformats.org/officeDocument/2006/relationships/notesSlide" Target="/ppt/notesSlides/notesSlide6.xml" Id="R39be6808634340a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bab31105644e9a" /><Relationship Type="http://schemas.openxmlformats.org/officeDocument/2006/relationships/notesSlide" Target="/ppt/notesSlides/notesSlide7.xml" Id="R3badd0546668424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34d7ab50314137" /><Relationship Type="http://schemas.openxmlformats.org/officeDocument/2006/relationships/notesSlide" Target="/ppt/notesSlides/notesSlide8.xml" Id="Rb69d86def933489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edec0bcfd24c9e" /><Relationship Type="http://schemas.openxmlformats.org/officeDocument/2006/relationships/notesSlide" Target="/ppt/notesSlides/notesSlide9.xml" Id="Rabbc7537289d4d2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aa4c73154e4e0b" /><Relationship Type="http://schemas.openxmlformats.org/officeDocument/2006/relationships/notesSlide" Target="/ppt/notesSlides/notesSlide10.xml" Id="R881a97ca594842e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B20145-1E54-44BC-8D4F-09F0C9F2C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7810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11111"/>
                </a:solidFill>
              </a:defRPr>
            </a:pPr>
            <a:r>
              <a:rPr sz="3900" b="1">
                <a:solidFill>
                  <a:srgbClr val="111111"/>
                </a:solidFill>
              </a:rPr>
              <a:t>Closira AI Inbound Agent MVP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FD44F7-1274-453C-A805-2C54DE270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621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A5F69"/>
                </a:solidFill>
              </a:defRPr>
            </a:pPr>
            <a:r>
              <a:rPr sz="2100" b="0">
                <a:solidFill>
                  <a:srgbClr val="5A5F69"/>
                </a:solidFill>
              </a:rPr>
              <a:t>Team Alignment Meeting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0B44A1-4CC1-49F4-95CB-7B5075107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336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Test Environment: Breakout Escape Rooms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EE0E10-CD3A-4963-8DA9-BA5777AEE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71800"/>
            <a:ext cx="10668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F3F5F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55371A-CC14-4FEE-A0B2-5F003B5EA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766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Meeting goal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0433E7-6C1C-4A79-84A1-DF005DF0D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33800"/>
            <a:ext cx="7620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- Share MVP progress and current implementation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- Align booking, payment, voice, messaging, and CRM contracts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- Identify blockers, owners, and next integration milestones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00D2CD-D2F6-4A79-BD35-C6B1D84DD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76600"/>
            <a:ext cx="9525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522"/>
          </a:solidFill>
          <a:ln xmlns:a="http://schemas.openxmlformats.org/drawingml/2006/main" w="9525">
            <a:solidFill>
              <a:srgbClr val="F2652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3EB7E3-D766-4E19-B011-3C256EC0D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324225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15 min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1748CC-A5A2-4572-A4AD-DA3B864E5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57850"/>
            <a:ext cx="704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5F69"/>
                </a:solidFill>
              </a:defRPr>
            </a:pPr>
            <a:r>
              <a:rPr sz="1350" b="0">
                <a:solidFill>
                  <a:srgbClr val="5A5F69"/>
                </a:solidFill>
              </a:rPr>
              <a:t>Audience: Full-stack, Backend, AI, Product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98DEAD-AD49-4C0D-AD97-45349D3BB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5F69"/>
                </a:solidFill>
              </a:defRPr>
            </a:pPr>
            <a:r>
              <a:rPr sz="975" b="0">
                <a:solidFill>
                  <a:srgbClr val="5A5F69"/>
                </a:solidFill>
              </a:rPr>
              <a:t>Closira AI Inbound Agent MVP | Team Alignment</a:t>
            </a:r>
          </a:p>
        </p:txBody>
      </p:sp>
    </p:spTree>
    <p:extLst>
      <p:ext uri="{BB962C8B-B14F-4D97-AF65-F5344CB8AC3E}">
        <p14:creationId xmlns:p14="http://schemas.microsoft.com/office/powerpoint/2010/main" val="2384763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5E09C5-5097-4D82-9879-1020C6CDF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6522"/>
                </a:solidFill>
              </a:defRPr>
            </a:pPr>
            <a:r>
              <a:rPr sz="1125" b="1">
                <a:solidFill>
                  <a:srgbClr val="F26522"/>
                </a:solidFill>
              </a:rPr>
              <a:t>INTRODUCTION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01A355-22FA-4859-A619-ED4C4D0B6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Objective, Problem, Scope, Success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E359DE-D799-4035-86A4-42FF35391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991007-FA9B-4398-BB56-03C8148ED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762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A5F69"/>
                </a:solidFill>
              </a:defRPr>
            </a:pPr>
            <a:r>
              <a:rPr sz="1200" b="1">
                <a:solidFill>
                  <a:srgbClr val="5A5F69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BF9893-757E-47F2-8C1A-6DB3E278E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0"/>
            <a:ext cx="3333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3D6B64-15D1-407A-961F-94020C9D8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Problem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0A4BCF-CD32-4B71-BE0E-C5FAA33A6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28098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- Missed calls and slow responses lose leads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- Staff repeat the same FAQs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- Customer data is scattered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520E35-2A94-4B8C-9A39-818DA12ED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714500"/>
            <a:ext cx="3333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9A736A-0961-4153-9590-50EE931B3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9431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MVP scope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DE204F-08CC-4023-9A47-84D572418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514600"/>
            <a:ext cx="28098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- Inbound calls and FAQs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- Lead qualification and summaries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- Booking, payment-link, CRM, messaging hooks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4287E0-6F6C-4E12-8151-9AB94A4BC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714500"/>
            <a:ext cx="3333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8D6564-6710-431B-8B99-85BFF3ED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431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Success criteria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908A49-768F-4BB5-8F9D-226DD8475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14600"/>
            <a:ext cx="28098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- Answer every routed call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- Keep context through messy conversations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- Escalate with useful summaries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3FB378-D2DA-4AC5-8A89-F88EFBADA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19700"/>
            <a:ext cx="10668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D"/>
          </a:solidFill>
          <a:ln xmlns:a="http://schemas.openxmlformats.org/drawingml/2006/main" w="9525">
            <a:solidFill>
              <a:srgbClr val="FFD3C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2C0AD0-90D8-4C11-968C-8A5DA864E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102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6522"/>
                </a:solidFill>
              </a:defRPr>
            </a:pPr>
            <a:r>
              <a:rPr sz="1350" b="1">
                <a:solidFill>
                  <a:srgbClr val="F26522"/>
                </a:solidFill>
              </a:rPr>
              <a:t>Business rule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C4C384-9064-4AEA-9184-3B34A5EF2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410200"/>
            <a:ext cx="800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A selected slot is not a confirmed booking. Payment success is the confirmation trigger.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0D6DB1-D1B8-4FC3-A96D-1DA4CF7C1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5F69"/>
                </a:solidFill>
              </a:defRPr>
            </a:pPr>
            <a:r>
              <a:rPr sz="975" b="0">
                <a:solidFill>
                  <a:srgbClr val="5A5F69"/>
                </a:solidFill>
              </a:rPr>
              <a:t>Closira AI Inbound Agent MVP | Team Alignment</a:t>
            </a:r>
          </a:p>
        </p:txBody>
      </p:sp>
    </p:spTree>
    <p:extLst>
      <p:ext uri="{BB962C8B-B14F-4D97-AF65-F5344CB8AC3E}">
        <p14:creationId xmlns:p14="http://schemas.microsoft.com/office/powerpoint/2010/main" val="17959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9F1098-D192-4F1A-97CD-F55BE1B2A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6522"/>
                </a:solidFill>
              </a:defRPr>
            </a:pPr>
            <a:r>
              <a:rPr sz="1125" b="1">
                <a:solidFill>
                  <a:srgbClr val="F26522"/>
                </a:solidFill>
              </a:rPr>
              <a:t>PROGRESS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3ADA32-50F4-4898-A6D5-B2E407340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What Is Done vs. What Is Still Moving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6D2202-D66B-4E76-9FFF-3392DDF8F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76EE3C-DAFA-41BE-966E-1B392AF96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762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A5F69"/>
                </a:solidFill>
              </a:defRPr>
            </a:pPr>
            <a:r>
              <a:rPr sz="1200" b="1">
                <a:solidFill>
                  <a:srgbClr val="5A5F69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D4EB78-A67E-4842-888D-474588B22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E7D32"/>
                </a:solidFill>
              </a:defRPr>
            </a:pPr>
            <a:r>
              <a:rPr sz="2100" b="1">
                <a:solidFill>
                  <a:srgbClr val="2E7D32"/>
                </a:solidFill>
              </a:rPr>
              <a:t>Completed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14A32E-1094-420B-B704-3235EC5D8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002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5A623"/>
                </a:solidFill>
              </a:defRPr>
            </a:pPr>
            <a:r>
              <a:rPr sz="2100" b="1">
                <a:solidFill>
                  <a:srgbClr val="F5A623"/>
                </a:solidFill>
              </a:rPr>
              <a:t>In progress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242457-1E72-4F5D-9F36-2CECA81FF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D32"/>
          </a:solidFill>
          <a:ln xmlns:a="http://schemas.openxmlformats.org/drawingml/2006/main" w="9525">
            <a:solidFill>
              <a:srgbClr val="2E7D3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EA07AA-8FCE-42BE-ABFA-6584E3680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383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FastAPI backend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A89AC3-09F9-48C0-9D7C-F1273624C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146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D32"/>
          </a:solidFill>
          <a:ln xmlns:a="http://schemas.openxmlformats.org/drawingml/2006/main" w="9525">
            <a:solidFill>
              <a:srgbClr val="2E7D3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4B86AF-E6A9-4750-9802-62B407181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3840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Intent detection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E31C44-7E6B-451A-9A6A-5485BC657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D32"/>
          </a:solidFill>
          <a:ln xmlns:a="http://schemas.openxmlformats.org/drawingml/2006/main" w="9525">
            <a:solidFill>
              <a:srgbClr val="2E7D3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C2B072-AABA-480A-8CA8-A3C7FC8F7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384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Conversation memory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18A19B-0561-4B14-8799-CD9762D2D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14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D32"/>
          </a:solidFill>
          <a:ln xmlns:a="http://schemas.openxmlformats.org/drawingml/2006/main" w="9525">
            <a:solidFill>
              <a:srgbClr val="2E7D3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3C711E-DC8A-4063-9068-AB5280B95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FAQ retrieval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784040-63FE-455D-8BF6-7B71D2FF9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D32"/>
          </a:solidFill>
          <a:ln xmlns:a="http://schemas.openxmlformats.org/drawingml/2006/main" w="9525">
            <a:solidFill>
              <a:srgbClr val="2E7D3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3035FF-7DA0-4C68-BED7-4FB297A18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Vapi tool integration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018C3C-1DE4-4F0E-B00E-BA67BAF9F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148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D32"/>
          </a:solidFill>
          <a:ln xmlns:a="http://schemas.openxmlformats.org/drawingml/2006/main" w="9525">
            <a:solidFill>
              <a:srgbClr val="2E7D3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B68510-0DA5-4B32-9B8D-FD2EA006D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3860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CRM dashboard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D27659-DEF8-46BD-9867-414B92E46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148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D32"/>
          </a:solidFill>
          <a:ln xmlns:a="http://schemas.openxmlformats.org/drawingml/2006/main" w="9525">
            <a:solidFill>
              <a:srgbClr val="2E7D3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4D9CDF-740D-4088-A625-CF2362178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386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Booking API client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35159B-AA23-456F-A81B-CFF829555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149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D32"/>
          </a:solidFill>
          <a:ln xmlns:a="http://schemas.openxmlformats.org/drawingml/2006/main" w="9525">
            <a:solidFill>
              <a:srgbClr val="2E7D3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C66C45-6B6E-4B20-8869-F74AE4448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3870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WhatsApp client scaffolding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3C58C0-1515-4929-B160-6870356A2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1145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A623"/>
          </a:solidFill>
          <a:ln xmlns:a="http://schemas.openxmlformats.org/drawingml/2006/main" w="9525">
            <a:solidFill>
              <a:srgbClr val="F5A62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1FE943-976C-4140-AC5C-389DEBCFD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383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Payment state machine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9298A2-45BF-403B-BAE6-1E173758E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5717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A623"/>
          </a:solidFill>
          <a:ln xmlns:a="http://schemas.openxmlformats.org/drawingml/2006/main" w="9525">
            <a:solidFill>
              <a:srgbClr val="F5A62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F50D21-78D4-4C1C-9E1B-740FCE934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4955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Payment callbacks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FE3063-6379-4D27-A615-FFF9FD564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289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A623"/>
          </a:solidFill>
          <a:ln xmlns:a="http://schemas.openxmlformats.org/drawingml/2006/main" w="9525">
            <a:solidFill>
              <a:srgbClr val="F5A62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20A043-E6FB-4CA7-8A16-406AD03AC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9527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TeleCMI integration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165108-F356-43D0-A927-6A1E95D1A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4861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A623"/>
          </a:solidFill>
          <a:ln xmlns:a="http://schemas.openxmlformats.org/drawingml/2006/main" w="9525">
            <a:solidFill>
              <a:srgbClr val="F5A62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D9FEB3-D61D-4BC1-8D5A-FE9BC7DDA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4099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CRM field mapping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B8C5A3D-6AE6-405F-8954-395294A08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9433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A623"/>
          </a:solidFill>
          <a:ln xmlns:a="http://schemas.openxmlformats.org/drawingml/2006/main" w="9525">
            <a:solidFill>
              <a:srgbClr val="F5A62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5268371-7061-4E0A-911C-1A2E9C107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8671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Production credentials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FA833F8-281B-4973-B3F2-BB23428BC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4005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A623"/>
          </a:solidFill>
          <a:ln xmlns:a="http://schemas.openxmlformats.org/drawingml/2006/main" w="9525">
            <a:solidFill>
              <a:srgbClr val="F5A62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D93AA91-220E-44F6-9C48-BAE6633F3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243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End-to-end staging tests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E665539-A571-4CC6-A721-2406D1912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695450"/>
            <a:ext cx="9525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BD1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4A109D1-2E4B-4866-9755-EFCC3AE57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5F69"/>
                </a:solidFill>
              </a:defRPr>
            </a:pPr>
            <a:r>
              <a:rPr sz="975" b="0">
                <a:solidFill>
                  <a:srgbClr val="5A5F69"/>
                </a:solidFill>
              </a:rPr>
              <a:t>Closira AI Inbound Agent MVP | Team Alignment</a:t>
            </a:r>
          </a:p>
        </p:txBody>
      </p:sp>
    </p:spTree>
    <p:extLst>
      <p:ext uri="{BB962C8B-B14F-4D97-AF65-F5344CB8AC3E}">
        <p14:creationId xmlns:p14="http://schemas.microsoft.com/office/powerpoint/2010/main" val="15143814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7CB6256-702A-4D0F-9A90-AE5540A2A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6522"/>
                </a:solidFill>
              </a:defRPr>
            </a:pPr>
            <a:r>
              <a:rPr sz="1125" b="1">
                <a:solidFill>
                  <a:srgbClr val="F26522"/>
                </a:solidFill>
              </a:rPr>
              <a:t>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124C42-C9A9-4E45-B4BE-2532FD88C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Inbound Call And Integration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135A18-7D79-4692-8705-2A36803CA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EA1C3C-AC15-4FE2-8F8A-CA50150BA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762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A5F69"/>
                </a:solidFill>
              </a:defRPr>
            </a:pPr>
            <a:r>
              <a:rPr sz="1200" b="1">
                <a:solidFill>
                  <a:srgbClr val="5A5F69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4ACC79-CE02-4948-AE92-B51FF1512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123825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D7F367-1EDC-4AE2-AF8D-998D25462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478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Customer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F76F26-4131-492D-90A3-FC4BCCF30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96215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324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774EB2-4526-4747-8DDB-76850D449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657350"/>
            <a:ext cx="123825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419DC2-CA45-41B4-A785-C0738B6B4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8478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TeleCMI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5EF413-7B8A-45CB-A2D9-EF5D74E94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6215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32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BBA848-4ACE-4CD9-A84B-AC771BE6B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657350"/>
            <a:ext cx="123825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001E76-C34B-4BFB-933F-DFFEA7F64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8478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Vapi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C92354-D19C-42ED-BFD2-FAA64D987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6215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324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0E9A9E-6156-431E-9812-6F06F845C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657350"/>
            <a:ext cx="123825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139FE7-FFAA-4AFA-B1DA-E732F5C9A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8478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FastAPI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DC7573-5819-4626-B008-FA5CA5DAF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6215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324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765BFE-94EB-4B72-BFC2-F9DDC4A25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57350"/>
            <a:ext cx="123825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F908D7-6BD9-4C90-9959-BA864DECF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478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Inbound Agent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8FA316-AC17-4EA2-9C42-E01917067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6215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324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FB67E3-47DE-4BBD-9C76-BC2504D68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57350"/>
            <a:ext cx="123825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02F033-F33E-4F4B-8E21-7CB12152F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478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Knowledge + Memory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FD6B52-A2C5-45DA-A496-35CAE2E31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Core agent services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309E53-653E-4967-847B-B63B21B2D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142875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F715F4-8046-46D8-9D74-4BE714BF9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766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Intent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E007C9-208D-4846-8127-43A244399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333750"/>
            <a:ext cx="142875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8E7803-3BB2-431E-8F4E-6EA34B721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4766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Memory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CDB31A-59B6-4217-84DF-7013FD566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333750"/>
            <a:ext cx="142875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1E98D9-AA4A-417D-BF4D-36C18B380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4766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FAQ/RAG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07ACAE-6654-4F53-B5DD-972595847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333750"/>
            <a:ext cx="142875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1978A05-F2D6-481F-BFC5-DF7C660A3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4766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Sentiment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FE04015-8D87-4347-ABF1-7B95F92BC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333750"/>
            <a:ext cx="142875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99586FA-4450-407F-8C97-012A92A5B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766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Scoring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D1ECB0C-1471-4D4E-8DD7-3FF469601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33750"/>
            <a:ext cx="142875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2A7DE3D-41CA-4D18-AD7D-08F956D0A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4766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Escalation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89D2C46-0BFA-4C23-AD73-EFFC532D2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386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External systems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C27B49D-08D1-4DF5-90D8-5B546E72B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53000"/>
            <a:ext cx="180975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EE51558-F944-46FB-82FC-03CAB501B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435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Booking API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777DDAD-DA0E-46E0-A5FA-C150FFAFD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953000"/>
            <a:ext cx="180975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3ED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7399561-C35B-4316-A21F-40DEDE6D2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1435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Payment API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72C9B0E-FD7A-4142-AAE2-652272A46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953000"/>
            <a:ext cx="180975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99C9FB2-33CD-4033-B7BE-C4E9C27B4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1435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CRM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5FCF1DC-F067-4DE8-A351-CBAD9B19C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953000"/>
            <a:ext cx="180975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E9624F9-42E6-4BA1-A66B-98E526A8E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1435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WhatsApp/SMS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550421F-D265-44BC-990F-A5468ED09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266950"/>
            <a:ext cx="0" cy="914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324D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D564725-5063-402E-AD1A-865D88D64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867150"/>
            <a:ext cx="0" cy="1085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324D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7AFCCEA-776E-430E-A02A-91CF47B07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5F69"/>
                </a:solidFill>
              </a:defRPr>
            </a:pPr>
            <a:r>
              <a:rPr sz="975" b="0">
                <a:solidFill>
                  <a:srgbClr val="5A5F69"/>
                </a:solidFill>
              </a:rPr>
              <a:t>Closira AI Inbound Agent MVP | Team Alignment</a:t>
            </a:r>
          </a:p>
        </p:txBody>
      </p:sp>
    </p:spTree>
    <p:extLst>
      <p:ext uri="{BB962C8B-B14F-4D97-AF65-F5344CB8AC3E}">
        <p14:creationId xmlns:p14="http://schemas.microsoft.com/office/powerpoint/2010/main" val="13142039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CE6E02-9226-4768-A235-FAC6E5699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6522"/>
                </a:solidFill>
              </a:defRPr>
            </a:pPr>
            <a:r>
              <a:rPr sz="1125" b="1">
                <a:solidFill>
                  <a:srgbClr val="F26522"/>
                </a:solidFill>
              </a:rPr>
              <a:t>DEMO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B0D14C-DA5A-4588-97D7-D9F4BA162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Customer Asks FAQs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924D7D-BEB2-4739-AE72-179B66DBD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2657DA-3403-4477-882A-93918649D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762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A5F69"/>
                </a:solidFill>
              </a:defRPr>
            </a:pPr>
            <a:r>
              <a:rPr sz="1200" b="1">
                <a:solidFill>
                  <a:srgbClr val="5A5F69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6F6D1F-C824-4DCB-9A98-767111B11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4762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F3F5F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379E2E-DA05-4C1A-8789-11ED722AE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90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A5F69"/>
                </a:solidFill>
              </a:defRPr>
            </a:pPr>
            <a:r>
              <a:rPr sz="1350" b="1">
                <a:solidFill>
                  <a:srgbClr val="5A5F69"/>
                </a:solidFill>
              </a:rPr>
              <a:t>Customer query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686D34-EB19-43A0-9CC4-AC97B9B7B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336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"Are we actually locked inside the room?"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4834FA-9B6E-4892-AC8A-9858F46E3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19250"/>
            <a:ext cx="476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77459C-4F7B-45C1-888F-028C038DC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7907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6522"/>
                </a:solidFill>
              </a:defRPr>
            </a:pPr>
            <a:r>
              <a:rPr sz="1350" b="1">
                <a:solidFill>
                  <a:srgbClr val="F26522"/>
                </a:solidFill>
              </a:rPr>
              <a:t>Reasoning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8D75E6-05E2-4D70-B45A-7F6AD035B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145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Safety / FAQ intent; retrieve SOP-backed answer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EFFC33-1849-43DC-8A26-6FC0841FF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43200"/>
            <a:ext cx="476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5B3FA1-30CF-4FBD-9F81-6361233A4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146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6522"/>
                </a:solidFill>
              </a:defRPr>
            </a:pPr>
            <a:r>
              <a:rPr sz="1350" b="1">
                <a:solidFill>
                  <a:srgbClr val="F26522"/>
                </a:solidFill>
              </a:rPr>
              <a:t>Response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1A7ED4-EF0C-432D-8B08-3DF479EC4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385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Reassure: monitored room, assistance available, safe exit policy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0AB7F5-8789-47A0-BC39-35F96F035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67150"/>
            <a:ext cx="476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AA088B-091D-4DD3-B0D8-1FD3D79CA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386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6522"/>
                </a:solidFill>
              </a:defRPr>
            </a:pPr>
            <a:r>
              <a:rPr sz="1350" b="1">
                <a:solidFill>
                  <a:srgbClr val="F26522"/>
                </a:solidFill>
              </a:rPr>
              <a:t>CRM update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F330F1-CE57-487D-93D9-B935FE265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3624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Store turn, intent, sentiment, summary-ready transcript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A04453-16F1-44B7-BA47-8C7E73E19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APIs / components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AF3CCA-969C-4A13-B4F6-346AB46A0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81400"/>
            <a:ext cx="400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- POST /vapi/tool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- Inbound Agent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- Knowledge retrieval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- Learning metrics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- CRM memory file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2383C5-37F3-4C63-9332-1D5610E3E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5F69"/>
                </a:solidFill>
              </a:defRPr>
            </a:pPr>
            <a:r>
              <a:rPr sz="975" b="0">
                <a:solidFill>
                  <a:srgbClr val="5A5F69"/>
                </a:solidFill>
              </a:rPr>
              <a:t>Closira AI Inbound Agent MVP | Team Alignment</a:t>
            </a:r>
          </a:p>
        </p:txBody>
      </p:sp>
    </p:spTree>
    <p:extLst>
      <p:ext uri="{BB962C8B-B14F-4D97-AF65-F5344CB8AC3E}">
        <p14:creationId xmlns:p14="http://schemas.microsoft.com/office/powerpoint/2010/main" val="10985716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223D15-5913-4B6D-AFAA-556620797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6522"/>
                </a:solidFill>
              </a:defRPr>
            </a:pPr>
            <a:r>
              <a:rPr sz="1125" b="1">
                <a:solidFill>
                  <a:srgbClr val="F26522"/>
                </a:solidFill>
              </a:rPr>
              <a:t>DEMO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92CBFB-3657-4342-A9BD-7C5F46E1C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Booking Flow: Slot Selection Is Not Confirmation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B555B8-909D-4CF4-81AB-2E40B1C9E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091127-268A-4CF2-AB1B-7938AFFED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762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A5F69"/>
                </a:solidFill>
              </a:defRPr>
            </a:pPr>
            <a:r>
              <a:rPr sz="1200" b="1">
                <a:solidFill>
                  <a:srgbClr val="5A5F69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F4BCEA-979A-4E52-A204-AE893AEEC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50495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3ED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3ED232-162C-4B83-B611-FD3AADBD5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2885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Slot selected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4116B2-8B1E-4066-B6CC-4B938EB87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343150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324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35F29D-900E-4583-972D-DD2AA3B60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000250"/>
            <a:ext cx="150495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985CFB-3247-466E-9018-F380472ED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22885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Payment link generated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8719D8-E7F1-4474-9695-6569155EA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343150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32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E91F3D-7B0F-40CE-8AAD-52C5345D3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00250"/>
            <a:ext cx="150495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93CFB2-DDE8-4554-A305-313422558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22885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Payment pending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D4A1EB-A2A7-4708-AD88-40E6A449B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43150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324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7C5263-0AF8-41B5-8C2F-CACD9F2FD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000250"/>
            <a:ext cx="150495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5EA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EE61D1-28A1-4EC0-B524-3B4C3BC77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2885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Payment successful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094B40-2954-4258-917F-D829AF47C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343150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324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53BB07-2EDB-481C-967D-4432620F1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00250"/>
            <a:ext cx="150495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5EA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C0B988-7364-44AC-A25C-BA245DB40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2885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Booking confirmed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70A2D0-8E1B-41B4-A520-D5FC5DA1E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343150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324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360FEA-4C8E-4E82-BBF9-692B2AE35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000250"/>
            <a:ext cx="150495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B54CA2-BD67-45A1-B13D-92976D984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22885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Confirmation sent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9F2059-DF33-4375-9127-41694EFD8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0"/>
            <a:ext cx="4857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B3FCB0-6A76-49D2-AAFB-DC1D90D58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766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Customer path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C78828-B9A1-4FBA-AA70-2AFFD14C8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14800"/>
            <a:ext cx="4000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- "I want to make a booking"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- "An escape"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- "Four adults, Koramangala, tomorrow"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29D5D4-40FE-4A85-AC81-70158D51A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29000"/>
            <a:ext cx="4857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D"/>
          </a:solidFill>
          <a:ln xmlns:a="http://schemas.openxmlformats.org/drawingml/2006/main" w="9525">
            <a:solidFill>
              <a:srgbClr val="FFD3C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DCC466-7F83-407F-AD65-9D2273D50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6766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6522"/>
                </a:solidFill>
              </a:defRPr>
            </a:pPr>
            <a:r>
              <a:rPr sz="1650" b="1">
                <a:solidFill>
                  <a:srgbClr val="F26522"/>
                </a:solidFill>
              </a:rPr>
              <a:t>Implementation guardrail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354104-9469-4F55-8875-0575DD22B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114800"/>
            <a:ext cx="4095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The agent can say a slot is selected or held. It must not say confirmed until payment success is verified.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80C1AB-9446-4E19-825D-0765D3666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5F69"/>
                </a:solidFill>
              </a:defRPr>
            </a:pPr>
            <a:r>
              <a:rPr sz="975" b="0">
                <a:solidFill>
                  <a:srgbClr val="5A5F69"/>
                </a:solidFill>
              </a:rPr>
              <a:t>Closira AI Inbound Agent MVP | Team Alignment</a:t>
            </a:r>
          </a:p>
        </p:txBody>
      </p:sp>
    </p:spTree>
    <p:extLst>
      <p:ext uri="{BB962C8B-B14F-4D97-AF65-F5344CB8AC3E}">
        <p14:creationId xmlns:p14="http://schemas.microsoft.com/office/powerpoint/2010/main" val="16101592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06AFA3-F49B-4EE6-960B-4A94A9D6A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6522"/>
                </a:solidFill>
              </a:defRPr>
            </a:pPr>
            <a:r>
              <a:rPr sz="1125" b="1">
                <a:solidFill>
                  <a:srgbClr val="F26522"/>
                </a:solidFill>
              </a:rPr>
              <a:t>DEMO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D0D88B-97E9-4DB5-8A88-07F131A64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Human Escalation And Summary Handoff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92E4BC-6F27-4F80-A72F-7E263045A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40A71B-8D47-4A81-B916-DA954702D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762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A5F69"/>
                </a:solidFill>
              </a:defRPr>
            </a:pPr>
            <a:r>
              <a:rPr sz="1200" b="1">
                <a:solidFill>
                  <a:srgbClr val="5A5F69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865653-B655-4CFE-A464-86934B546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00250"/>
            <a:ext cx="200025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2A24E3-4DFF-4E82-88BE-9DC01D980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717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Customer request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1AB879-76D4-4DAF-804D-558085C1C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A5F69"/>
                </a:solidFill>
              </a:defRPr>
            </a:pPr>
            <a:r>
              <a:rPr sz="1350" b="0">
                <a:solidFill>
                  <a:srgbClr val="5A5F69"/>
                </a:solidFill>
              </a:rPr>
              <a:t>"I want to speak to a person"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720157-9613-47DE-9924-512B7BA44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286000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324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2BAC85-1D95-48D4-9A19-9E8408CF5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000250"/>
            <a:ext cx="200025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3ED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603CF5-CBF1-435D-9EBD-2432A467E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717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Escalation trigger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530615-C15F-417A-82AB-90E4E2AEE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78130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A5F69"/>
                </a:solidFill>
              </a:defRPr>
            </a:pPr>
            <a:r>
              <a:rPr sz="1350" b="0">
                <a:solidFill>
                  <a:srgbClr val="5A5F69"/>
                </a:solidFill>
              </a:rPr>
              <a:t>Explicit human-agent request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EADA30-D82B-467A-8206-71B7F1021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286000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324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751337-0EB9-4A08-8788-6103BDEE1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00250"/>
            <a:ext cx="200025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606B80-154F-42AC-B358-665578AA5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717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Summary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B037DE-58CE-4523-8DB1-986E8E108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8130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A5F69"/>
                </a:solidFill>
              </a:defRPr>
            </a:pPr>
            <a:r>
              <a:rPr sz="1350" b="0">
                <a:solidFill>
                  <a:srgbClr val="5A5F69"/>
                </a:solidFill>
              </a:rPr>
              <a:t>Intent, facts captured, unresolved asks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8E1AA2-580A-4508-8193-1A47D470C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86000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324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8A783A-93E9-4C17-93F9-FA0946601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00250"/>
            <a:ext cx="200025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7EAF73-9D58-45EC-BFB2-8ED2AA1B4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717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Handoff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8E44F9-B5C3-4352-B6BE-B46C9A6AC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8130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A5F69"/>
                </a:solidFill>
              </a:defRPr>
            </a:pPr>
            <a:r>
              <a:rPr sz="1350" b="0">
                <a:solidFill>
                  <a:srgbClr val="5A5F69"/>
                </a:solidFill>
              </a:rPr>
              <a:t>Transfer or callback based on availability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3FE9D8-8D02-42CC-8B28-6545DB105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9906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F3F5F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F64888-9FB0-498C-9A6B-40EA6466A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2435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Expected agent response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2103EF-FF83-46E9-BEBC-8BFAE7CD9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70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"Of course. I’ll connect you with the team and pass along what you’ve already shared."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3827E3-2AFC-4827-9603-58C4121B3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5F69"/>
                </a:solidFill>
              </a:defRPr>
            </a:pPr>
            <a:r>
              <a:rPr sz="975" b="0">
                <a:solidFill>
                  <a:srgbClr val="5A5F69"/>
                </a:solidFill>
              </a:rPr>
              <a:t>Closira AI Inbound Agent MVP | Team Alignment</a:t>
            </a:r>
          </a:p>
        </p:txBody>
      </p:sp>
    </p:spTree>
    <p:extLst>
      <p:ext uri="{BB962C8B-B14F-4D97-AF65-F5344CB8AC3E}">
        <p14:creationId xmlns:p14="http://schemas.microsoft.com/office/powerpoint/2010/main" val="4707553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9F6AC3-4806-47A3-9E1D-AAF5DD3B5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6522"/>
                </a:solidFill>
              </a:defRPr>
            </a:pPr>
            <a:r>
              <a:rPr sz="1125" b="1">
                <a:solidFill>
                  <a:srgbClr val="F26522"/>
                </a:solidFill>
              </a:rPr>
              <a:t>INTEGRATION DISCUSSION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A96A90-9F32-40F4-8E62-00B4BD822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Status, Dependencies, Open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B36313-DE97-4525-8A19-EBBFCC42D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FF9CF5-B251-48AB-96D6-F7B29CC4B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762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A5F69"/>
                </a:solidFill>
              </a:defRPr>
            </a:pPr>
            <a:r>
              <a:rPr sz="1200" b="1">
                <a:solidFill>
                  <a:srgbClr val="5A5F69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CC176B-4329-41E6-8841-CE62640A2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00200"/>
            <a:ext cx="1619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CBA9C0-2EC1-4D2C-AB78-289E2E46E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24025"/>
            <a:ext cx="1466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Integration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ED6F3B-22BF-4956-A7D7-DE133C9F4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60020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B8B3F5-1D2E-4310-9A66-14E91766B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724025"/>
            <a:ext cx="1943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Current status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3AC10C-1EB8-4207-B1B3-77A1872C0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60020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6768A7-DEC7-45DD-96FB-444799E0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724025"/>
            <a:ext cx="2228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Dependencies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98208A-5F02-46D8-9630-8F4D02057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00200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2840C9-EE2B-4D3F-8A92-E4E1947FE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724025"/>
            <a:ext cx="2038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Open questions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3B0837-FFE1-40D0-AB27-29D333123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600200"/>
            <a:ext cx="200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A3A358-8BD2-41D7-A5FC-38513FA97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724025"/>
            <a:ext cx="1847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Owner to confirm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C907E1-2DD9-4B35-B7BA-960868529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19300"/>
            <a:ext cx="161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92879F-A2C1-41F2-8FDE-B016671B9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336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Booking APIs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F13EDE-1A9D-4AD1-8DB7-9D50C194E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019300"/>
            <a:ext cx="209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154412-ABB9-4A62-9C03-15C8C43CA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133600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Client aligned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5122A5-3C91-442E-909F-D3A667BA3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019300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1425DE-3B0A-4B2A-9AC6-FBB57CF79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133600"/>
            <a:ext cx="222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API key, final contract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51A895-9E23-4968-B8E7-3811C42D2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19300"/>
            <a:ext cx="2190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87BF9E-7816-49D6-ADC4-BC49C52E9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13360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Tools vs REST?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CB9A27-2693-4439-A7F3-15B919C5E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01930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48ED01-6874-4023-9183-669E6F774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13360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Backend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66B010-F503-4E30-8FC7-C2430BD3A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09850"/>
            <a:ext cx="161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046275-E615-4790-A268-C9B60C3F9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2415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Payment APIs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34AAE4-9279-4956-8C01-5F265999C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609850"/>
            <a:ext cx="209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D6785F-BA2A-4D84-94F3-5AEB2F7C2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724150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State design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7BC9906-F631-4E5F-BFBE-B1BB374E0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609850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BB2F0E-589E-43FF-B5A5-51916FA84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724150"/>
            <a:ext cx="222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Webhook schema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577768-9E7B-4169-953E-F7A601B5C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09850"/>
            <a:ext cx="2190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F7255EE-7620-4EFC-AC4C-3F1505A6B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72415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Success source?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2BF6A85-B32D-4A1C-904F-09D2C97EA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60985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4F1908C-0E51-489C-BBFE-69C086F96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72415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Payments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A9E8FA2-63E6-40D2-BC19-AFC4D99C9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00400"/>
            <a:ext cx="161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05C0397-ECE4-42A2-A34A-9B6E45EB0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147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TeleCMI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6A2830E-F8A6-464E-B62E-4FDF84552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200400"/>
            <a:ext cx="209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6F0E971-3E9D-407A-B1AC-397F3929E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14700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Not wired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60E7876-3F74-4829-B116-E1DCE868B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200400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C479BDC-7E3C-4BAD-8D6A-711DFD062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314700"/>
            <a:ext cx="222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Event specs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405FB47-DA87-43CE-8203-AFC2A5362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00400"/>
            <a:ext cx="2190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305879A-51A6-4FD6-B355-4965E3EAF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31470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Call routing?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A20C48E-EFA3-478F-8E1F-C6C9D087A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20040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CB3534E-5A14-417E-905B-16F9FB6D2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31470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Telephony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A236D59-C1D2-474A-917A-6DD469CB6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90950"/>
            <a:ext cx="161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48D9988-8B66-4AE0-85F2-F46078380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0525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Vapi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D17A1FD-6FE3-414D-B42E-1939A27A0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790950"/>
            <a:ext cx="209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A0708CD-E652-432B-B6D1-12E91596B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905250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Tool live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8F68403-86FD-4C78-B17B-C95A02DEF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790950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D87A4B0-8B09-4937-87A4-C74132ABE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905250"/>
            <a:ext cx="222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Payload stability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0E3D23B-FD34-44A3-B929-E3611E808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90950"/>
            <a:ext cx="2190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FB62F0D-C65F-4315-A3C0-F39B2F7EA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90525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Call events?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972E2DB-7F25-4532-837E-AA431CA72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79095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1B69873-79F7-4923-9356-06D90C70A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90525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AI/Voice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7B04A01-01F5-4150-B9EA-60DD2E612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0"/>
            <a:ext cx="161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4C7BE19-09AB-4B13-BBF2-E6D04B012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958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WhatsApp/SMS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BA94154-2C35-49C2-A256-9BA5298C3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381500"/>
            <a:ext cx="209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6D21828-5C42-4394-A4E2-7C513C8C9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495800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Client scaffold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64AA199-FBCC-480B-8CA7-470B54538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381500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6905273-8F11-4727-BDAF-25770DCDF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95800"/>
            <a:ext cx="222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Provider, templates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ADB6571-3879-4541-94D2-71591877D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381500"/>
            <a:ext cx="2190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E395B9D-27CD-4935-9846-4BE1DD5EC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49580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Which provider?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0433540-C73E-4EE9-94FA-63F2F8B81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38150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A211761-9D31-4A0A-91B6-CE48C8A92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49580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Messaging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8899070-3A60-479F-99A7-5B41165EF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72050"/>
            <a:ext cx="161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A760741-00C4-4E97-B794-80A518CA4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8635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CRM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3B17676-2017-4632-BA51-118318E71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972050"/>
            <a:ext cx="209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6948ABF-6C2E-4BE1-87BC-13A27F4F5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86350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Dashboard live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C57C3D7-C485-45EE-8C59-D1BBC155F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972050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B2EB54C-1D70-4161-ABC1-DAC505025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086350"/>
            <a:ext cx="222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Field mapping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F1E3ECE-1604-4E8A-9837-29754F3EB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72050"/>
            <a:ext cx="2190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4F2B96C-5F19-407B-9F91-0FF318DF2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08635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System of record?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2B0B86D-3937-4193-98F8-AAD855CA2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97205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BBDED91-9091-4617-AC5E-E7F2D452C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08635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CRM/FS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99371F0-CCB6-4C34-85FE-5981E04C4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5F69"/>
                </a:solidFill>
              </a:defRPr>
            </a:pPr>
            <a:r>
              <a:rPr sz="975" b="0">
                <a:solidFill>
                  <a:srgbClr val="5A5F69"/>
                </a:solidFill>
              </a:rPr>
              <a:t>Closira AI Inbound Agent MVP | Team Alignment</a:t>
            </a:r>
          </a:p>
        </p:txBody>
      </p:sp>
    </p:spTree>
    <p:extLst>
      <p:ext uri="{BB962C8B-B14F-4D97-AF65-F5344CB8AC3E}">
        <p14:creationId xmlns:p14="http://schemas.microsoft.com/office/powerpoint/2010/main" val="10967642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0AA48C3-32FD-498B-932C-7E81675BA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6522"/>
                </a:solidFill>
              </a:defRPr>
            </a:pPr>
            <a:r>
              <a:rPr sz="1125" b="1">
                <a:solidFill>
                  <a:srgbClr val="F26522"/>
                </a:solidFill>
              </a:rPr>
              <a:t>QUESTIONS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197021-13F2-44D7-BB1B-5658E7C6F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Questions For The Full-Stack Team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A0FE66-5325-4634-8063-4A5B75163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DEB35F-0CF3-45FF-A048-D0FC168E2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762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A5F69"/>
                </a:solidFill>
              </a:defRPr>
            </a:pPr>
            <a:r>
              <a:rPr sz="1200" b="1">
                <a:solidFill>
                  <a:srgbClr val="5A5F69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E5FA4C-9B07-4301-A26F-EA15089F3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62100"/>
            <a:ext cx="4953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808FF2-BEA5-4A5F-936F-F085C0653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1. How do incoming calls reach our AI agent?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D506C7-3C08-4811-AAF4-7703E5831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6215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5F69"/>
                </a:solidFill>
              </a:defRPr>
            </a:pPr>
            <a:r>
              <a:rPr sz="1200" b="0">
                <a:solidFill>
                  <a:srgbClr val="5A5F69"/>
                </a:solidFill>
              </a:rPr>
              <a:t>Why: session start. Depends: voice routing.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9CB077-5159-4B8F-8EFB-B80D5558A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562100"/>
            <a:ext cx="4953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B84AC1-868C-4F20-87D5-BDE530477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6764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2. What events do we receive during a call?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9AFD7B-B0DC-4304-BE25-EB7E6C8B5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96215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5F69"/>
                </a:solidFill>
              </a:defRPr>
            </a:pPr>
            <a:r>
              <a:rPr sz="1200" b="0">
                <a:solidFill>
                  <a:srgbClr val="5A5F69"/>
                </a:solidFill>
              </a:rPr>
              <a:t>Why: realtime state. Depends: CRM/logs.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68C058-2A52-493A-AD7B-8314583E7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4953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AE2950-1252-4365-908A-69D8D77FD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908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3. How do we know payment succeeded?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BDE380-8A40-40C6-844E-5C8F2B667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7655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5F69"/>
                </a:solidFill>
              </a:defRPr>
            </a:pPr>
            <a:r>
              <a:rPr sz="1200" b="0">
                <a:solidFill>
                  <a:srgbClr val="5A5F69"/>
                </a:solidFill>
              </a:rPr>
              <a:t>Why: confirm safely. Depends: webhook.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EFE779-1BCB-48D4-BFA5-B5D547783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76500"/>
            <a:ext cx="4953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A6ADE4-21CB-4112-A706-CFD69B126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5908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4. What if payment fails or expires?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F77ADC-A4C4-4C54-B39F-3CFB38857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87655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5F69"/>
                </a:solidFill>
              </a:defRPr>
            </a:pPr>
            <a:r>
              <a:rPr sz="1200" b="0">
                <a:solidFill>
                  <a:srgbClr val="5A5F69"/>
                </a:solidFill>
              </a:rPr>
              <a:t>Why: release slot. Depends: retry/follow-up.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D85E83-C724-4B44-8449-30337177A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90900"/>
            <a:ext cx="4953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C8F8F8-29C7-4936-94A5-8C0207E09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052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5. Where should transcripts/summaries live?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1DF9D1-5074-4656-AC91-9AEB6FC68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9095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5F69"/>
                </a:solidFill>
              </a:defRPr>
            </a:pPr>
            <a:r>
              <a:rPr sz="1200" b="0">
                <a:solidFill>
                  <a:srgbClr val="5A5F69"/>
                </a:solidFill>
              </a:rPr>
              <a:t>Why: audit. Depends: CRM schema.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8B420E-01AC-42A0-9D0D-2C28990C8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90900"/>
            <a:ext cx="4953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1EE6A8-A98F-4E34-A82C-688F96807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5052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6. How does call transfer work?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88DDF1-B4AD-4E77-B13E-5A5C5F54D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79095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5F69"/>
                </a:solidFill>
              </a:defRPr>
            </a:pPr>
            <a:r>
              <a:rPr sz="1200" b="0">
                <a:solidFill>
                  <a:srgbClr val="5A5F69"/>
                </a:solidFill>
              </a:rPr>
              <a:t>Why: escalation. Depends: TeleCMI/Vapi.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D52936-F885-4C36-9E78-7474F430E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05300"/>
            <a:ext cx="4953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3F33AF-EF94-4C90-A3B0-289C9C50B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196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7. Which WhatsApp/SMS provider?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6D927D-B29D-45C1-8B92-6D4E7B50C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0535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5F69"/>
                </a:solidFill>
              </a:defRPr>
            </a:pPr>
            <a:r>
              <a:rPr sz="1200" b="0">
                <a:solidFill>
                  <a:srgbClr val="5A5F69"/>
                </a:solidFill>
              </a:rPr>
              <a:t>Why: delivery. Depends: templates/keys.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53A821-458A-486F-9098-B0F6B6539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305300"/>
            <a:ext cx="4953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8E5F1E-E6CB-456C-A896-AAA69DD67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4196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8. What lead info is stored in CRM?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5E85938-082C-484F-BBE5-81F76515A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70535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5F69"/>
                </a:solidFill>
              </a:defRPr>
            </a:pPr>
            <a:r>
              <a:rPr sz="1200" b="0">
                <a:solidFill>
                  <a:srgbClr val="5A5F69"/>
                </a:solidFill>
              </a:rPr>
              <a:t>Why: sales usage. Depends: field map.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A4DE2E4-D6F2-45B8-9269-E16A00883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4953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3547C1C-A515-4790-A9C3-FD3134F05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340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9. Do we have staging credentials?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34036AB-6BB8-426E-B95A-C5E52764E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1975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5F69"/>
                </a:solidFill>
              </a:defRPr>
            </a:pPr>
            <a:r>
              <a:rPr sz="1200" b="0">
                <a:solidFill>
                  <a:srgbClr val="5A5F69"/>
                </a:solidFill>
              </a:rPr>
              <a:t>Why: testing. Depends: all integrations.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152A73E-1063-4410-B82B-BF1F8A44B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219700"/>
            <a:ext cx="4953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5C79D89-98C8-47E2-B8F0-FFA08305D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53340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10. Who owns break/fix per integration?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28A8119-E6A8-463C-9FD5-D9A4582EF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561975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5F69"/>
                </a:solidFill>
              </a:defRPr>
            </a:pPr>
            <a:r>
              <a:rPr sz="1200" b="0">
                <a:solidFill>
                  <a:srgbClr val="5A5F69"/>
                </a:solidFill>
              </a:rPr>
              <a:t>Why: incidents. Depends: RACI/on-call.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E98FAE-5CE8-43D0-9E69-B53B6919B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5F69"/>
                </a:solidFill>
              </a:defRPr>
            </a:pPr>
            <a:r>
              <a:rPr sz="975" b="0">
                <a:solidFill>
                  <a:srgbClr val="5A5F69"/>
                </a:solidFill>
              </a:rPr>
              <a:t>Closira AI Inbound Agent MVP | Team Alignment</a:t>
            </a:r>
          </a:p>
        </p:txBody>
      </p:sp>
    </p:spTree>
    <p:extLst>
      <p:ext uri="{BB962C8B-B14F-4D97-AF65-F5344CB8AC3E}">
        <p14:creationId xmlns:p14="http://schemas.microsoft.com/office/powerpoint/2010/main" val="166131915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3F9CBFC-61F4-402B-8FEA-375F99456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6522"/>
                </a:solidFill>
              </a:defRPr>
            </a:pPr>
            <a:r>
              <a:rPr sz="1125" b="1">
                <a:solidFill>
                  <a:srgbClr val="F26522"/>
                </a:solidFill>
              </a:rPr>
              <a:t>NEXT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650367-BC3F-4DF0-9DFB-933055BBB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Timeline Alignment And Meeting Exit Criteria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0549E9-38FE-499F-B414-CBA33A953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290405-ABBC-4109-B4EC-6B537A7AD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762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A5F69"/>
                </a:solidFill>
              </a:defRPr>
            </a:pPr>
            <a:r>
              <a:rPr sz="1200" b="1">
                <a:solidFill>
                  <a:srgbClr val="5A5F69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90D6D2-FC63-47D6-977C-0F971A54D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This week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1E239C-8D66-441E-B47C-8DAC72B3E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4095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- Finalize API contracts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- Finalize payment state machine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- Implement payment callbacks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- Finalize TeleCMI event mapping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- Finalize CRM schema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6A39E4-73F9-45FC-A74D-2CD3BDB45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002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Next week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62D6D9-29A4-44ED-BBD6-537160198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76450"/>
            <a:ext cx="4095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- End-to-end booking flow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- Payment success flow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- Human escalation flow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- WhatsApp/SMS integration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- CRM synchronization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4E5ED5-1B4F-4F63-9160-A6614D2F3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00550"/>
            <a:ext cx="10096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D"/>
          </a:solidFill>
          <a:ln xmlns:a="http://schemas.openxmlformats.org/drawingml/2006/main" w="9525">
            <a:solidFill>
              <a:srgbClr val="FFD3C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B9418D-9A37-4A07-B6FE-8C004763D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482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6522"/>
                </a:solidFill>
              </a:defRPr>
            </a:pPr>
            <a:r>
              <a:rPr sz="1650" b="1">
                <a:solidFill>
                  <a:srgbClr val="F26522"/>
                </a:solidFill>
              </a:rPr>
              <a:t>Leave the meeting with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5996AF-111F-4137-9B0F-DB1E1334C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48250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Final contracts | Payment webhook schema | TeleCMI event specs | CRM field map | Messaging provider | Staging credentials | Named owners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B7C2AE-13CB-4C00-AEA6-491F76102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5F69"/>
                </a:solidFill>
              </a:defRPr>
            </a:pPr>
            <a:r>
              <a:rPr sz="975" b="0">
                <a:solidFill>
                  <a:srgbClr val="5A5F69"/>
                </a:solidFill>
              </a:rPr>
              <a:t>Closira AI Inbound Agent MVP | Team Alignment</a:t>
            </a:r>
          </a:p>
        </p:txBody>
      </p:sp>
    </p:spTree>
    <p:extLst>
      <p:ext uri="{BB962C8B-B14F-4D97-AF65-F5344CB8AC3E}">
        <p14:creationId xmlns:p14="http://schemas.microsoft.com/office/powerpoint/2010/main" val="14794143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2026-06-26T14:31:49.1020000Z</dcterms:created>
  <dcterms:modified xsi:type="dcterms:W3CDTF">2026-06-26T14:31:49.1020000Z</dcterms:modified>
</coreProperties>
</file>